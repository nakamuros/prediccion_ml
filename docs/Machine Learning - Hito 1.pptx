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heddar" panose="020B0604020202020204" charset="0"/>
      <p:regular r:id="rId14"/>
    </p:embeddedFont>
    <p:embeddedFont>
      <p:font typeface="Telegraf" panose="020B0604020202020204" charset="0"/>
      <p:regular r:id="rId15"/>
    </p:embeddedFont>
    <p:embeddedFont>
      <p:font typeface="Telegraf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75885" y="2540098"/>
            <a:ext cx="1260008" cy="1653948"/>
          </a:xfrm>
          <a:custGeom>
            <a:avLst/>
            <a:gdLst/>
            <a:ahLst/>
            <a:cxnLst/>
            <a:rect l="l" t="t" r="r" b="b"/>
            <a:pathLst>
              <a:path w="1260008" h="1653948">
                <a:moveTo>
                  <a:pt x="0" y="0"/>
                </a:moveTo>
                <a:lnTo>
                  <a:pt x="1260008" y="0"/>
                </a:lnTo>
                <a:lnTo>
                  <a:pt x="1260008" y="1653948"/>
                </a:lnTo>
                <a:lnTo>
                  <a:pt x="0" y="1653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565002" y="3394331"/>
            <a:ext cx="4550946" cy="905000"/>
            <a:chOff x="0" y="0"/>
            <a:chExt cx="1146356" cy="2279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PRESENTADO POR: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65002" y="4511078"/>
            <a:ext cx="8694298" cy="905000"/>
            <a:chOff x="0" y="0"/>
            <a:chExt cx="2190042" cy="2279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0042" cy="227964"/>
            </a:xfrm>
            <a:custGeom>
              <a:avLst/>
              <a:gdLst/>
              <a:ahLst/>
              <a:cxnLst/>
              <a:rect l="l" t="t" r="r" b="b"/>
              <a:pathLst>
                <a:path w="2190042" h="227964">
                  <a:moveTo>
                    <a:pt x="45413" y="0"/>
                  </a:moveTo>
                  <a:lnTo>
                    <a:pt x="2144628" y="0"/>
                  </a:lnTo>
                  <a:cubicBezTo>
                    <a:pt x="2156673" y="0"/>
                    <a:pt x="2168224" y="4785"/>
                    <a:pt x="2176740" y="13301"/>
                  </a:cubicBezTo>
                  <a:cubicBezTo>
                    <a:pt x="2185257" y="21818"/>
                    <a:pt x="2190042" y="33369"/>
                    <a:pt x="2190042" y="45413"/>
                  </a:cubicBezTo>
                  <a:lnTo>
                    <a:pt x="2190042" y="182551"/>
                  </a:lnTo>
                  <a:cubicBezTo>
                    <a:pt x="2190042" y="194595"/>
                    <a:pt x="2185257" y="206146"/>
                    <a:pt x="2176740" y="214663"/>
                  </a:cubicBezTo>
                  <a:cubicBezTo>
                    <a:pt x="2168224" y="223180"/>
                    <a:pt x="2156673" y="227964"/>
                    <a:pt x="2144628" y="227964"/>
                  </a:cubicBezTo>
                  <a:lnTo>
                    <a:pt x="45413" y="227964"/>
                  </a:lnTo>
                  <a:cubicBezTo>
                    <a:pt x="20332" y="227964"/>
                    <a:pt x="0" y="207632"/>
                    <a:pt x="0" y="182551"/>
                  </a:cubicBezTo>
                  <a:lnTo>
                    <a:pt x="0" y="45413"/>
                  </a:lnTo>
                  <a:cubicBezTo>
                    <a:pt x="0" y="33369"/>
                    <a:pt x="4785" y="21818"/>
                    <a:pt x="13301" y="13301"/>
                  </a:cubicBezTo>
                  <a:cubicBezTo>
                    <a:pt x="21818" y="4785"/>
                    <a:pt x="33369" y="0"/>
                    <a:pt x="45413" y="0"/>
                  </a:cubicBezTo>
                  <a:close/>
                </a:path>
              </a:pathLst>
            </a:custGeom>
            <a:solidFill>
              <a:srgbClr val="F7562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190042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MIRANDA VIVANCO, ALEXANDER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208087" y="586730"/>
            <a:ext cx="9815722" cy="2857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2000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ONCOSYNC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65002" y="5604800"/>
            <a:ext cx="8694298" cy="905000"/>
            <a:chOff x="0" y="0"/>
            <a:chExt cx="2190042" cy="2279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0042" cy="227964"/>
            </a:xfrm>
            <a:custGeom>
              <a:avLst/>
              <a:gdLst/>
              <a:ahLst/>
              <a:cxnLst/>
              <a:rect l="l" t="t" r="r" b="b"/>
              <a:pathLst>
                <a:path w="2190042" h="227964">
                  <a:moveTo>
                    <a:pt x="45413" y="0"/>
                  </a:moveTo>
                  <a:lnTo>
                    <a:pt x="2144628" y="0"/>
                  </a:lnTo>
                  <a:cubicBezTo>
                    <a:pt x="2156673" y="0"/>
                    <a:pt x="2168224" y="4785"/>
                    <a:pt x="2176740" y="13301"/>
                  </a:cubicBezTo>
                  <a:cubicBezTo>
                    <a:pt x="2185257" y="21818"/>
                    <a:pt x="2190042" y="33369"/>
                    <a:pt x="2190042" y="45413"/>
                  </a:cubicBezTo>
                  <a:lnTo>
                    <a:pt x="2190042" y="182551"/>
                  </a:lnTo>
                  <a:cubicBezTo>
                    <a:pt x="2190042" y="194595"/>
                    <a:pt x="2185257" y="206146"/>
                    <a:pt x="2176740" y="214663"/>
                  </a:cubicBezTo>
                  <a:cubicBezTo>
                    <a:pt x="2168224" y="223180"/>
                    <a:pt x="2156673" y="227964"/>
                    <a:pt x="2144628" y="227964"/>
                  </a:cubicBezTo>
                  <a:lnTo>
                    <a:pt x="45413" y="227964"/>
                  </a:lnTo>
                  <a:cubicBezTo>
                    <a:pt x="20332" y="227964"/>
                    <a:pt x="0" y="207632"/>
                    <a:pt x="0" y="182551"/>
                  </a:cubicBezTo>
                  <a:lnTo>
                    <a:pt x="0" y="45413"/>
                  </a:lnTo>
                  <a:cubicBezTo>
                    <a:pt x="0" y="33369"/>
                    <a:pt x="4785" y="21818"/>
                    <a:pt x="13301" y="13301"/>
                  </a:cubicBezTo>
                  <a:cubicBezTo>
                    <a:pt x="21818" y="4785"/>
                    <a:pt x="33369" y="0"/>
                    <a:pt x="45413" y="0"/>
                  </a:cubicBezTo>
                  <a:close/>
                </a:path>
              </a:pathLst>
            </a:custGeom>
            <a:solidFill>
              <a:srgbClr val="F7562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2190042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DIAZ CHAVEZ, ANGEL GABRIEL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65002" y="6698522"/>
            <a:ext cx="8694298" cy="905000"/>
            <a:chOff x="0" y="0"/>
            <a:chExt cx="2190042" cy="2279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0042" cy="227964"/>
            </a:xfrm>
            <a:custGeom>
              <a:avLst/>
              <a:gdLst/>
              <a:ahLst/>
              <a:cxnLst/>
              <a:rect l="l" t="t" r="r" b="b"/>
              <a:pathLst>
                <a:path w="2190042" h="227964">
                  <a:moveTo>
                    <a:pt x="45413" y="0"/>
                  </a:moveTo>
                  <a:lnTo>
                    <a:pt x="2144628" y="0"/>
                  </a:lnTo>
                  <a:cubicBezTo>
                    <a:pt x="2156673" y="0"/>
                    <a:pt x="2168224" y="4785"/>
                    <a:pt x="2176740" y="13301"/>
                  </a:cubicBezTo>
                  <a:cubicBezTo>
                    <a:pt x="2185257" y="21818"/>
                    <a:pt x="2190042" y="33369"/>
                    <a:pt x="2190042" y="45413"/>
                  </a:cubicBezTo>
                  <a:lnTo>
                    <a:pt x="2190042" y="182551"/>
                  </a:lnTo>
                  <a:cubicBezTo>
                    <a:pt x="2190042" y="194595"/>
                    <a:pt x="2185257" y="206146"/>
                    <a:pt x="2176740" y="214663"/>
                  </a:cubicBezTo>
                  <a:cubicBezTo>
                    <a:pt x="2168224" y="223180"/>
                    <a:pt x="2156673" y="227964"/>
                    <a:pt x="2144628" y="227964"/>
                  </a:cubicBezTo>
                  <a:lnTo>
                    <a:pt x="45413" y="227964"/>
                  </a:lnTo>
                  <a:cubicBezTo>
                    <a:pt x="20332" y="227964"/>
                    <a:pt x="0" y="207632"/>
                    <a:pt x="0" y="182551"/>
                  </a:cubicBezTo>
                  <a:lnTo>
                    <a:pt x="0" y="45413"/>
                  </a:lnTo>
                  <a:cubicBezTo>
                    <a:pt x="0" y="33369"/>
                    <a:pt x="4785" y="21818"/>
                    <a:pt x="13301" y="13301"/>
                  </a:cubicBezTo>
                  <a:cubicBezTo>
                    <a:pt x="21818" y="4785"/>
                    <a:pt x="33369" y="0"/>
                    <a:pt x="45413" y="0"/>
                  </a:cubicBezTo>
                  <a:close/>
                </a:path>
              </a:pathLst>
            </a:custGeom>
            <a:solidFill>
              <a:srgbClr val="F7562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2190042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LUNA CENTENO, SEBASTIÁN RODRIGO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65002" y="7794022"/>
            <a:ext cx="8694298" cy="905000"/>
            <a:chOff x="0" y="0"/>
            <a:chExt cx="2190042" cy="2279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0042" cy="227964"/>
            </a:xfrm>
            <a:custGeom>
              <a:avLst/>
              <a:gdLst/>
              <a:ahLst/>
              <a:cxnLst/>
              <a:rect l="l" t="t" r="r" b="b"/>
              <a:pathLst>
                <a:path w="2190042" h="227964">
                  <a:moveTo>
                    <a:pt x="45413" y="0"/>
                  </a:moveTo>
                  <a:lnTo>
                    <a:pt x="2144628" y="0"/>
                  </a:lnTo>
                  <a:cubicBezTo>
                    <a:pt x="2156673" y="0"/>
                    <a:pt x="2168224" y="4785"/>
                    <a:pt x="2176740" y="13301"/>
                  </a:cubicBezTo>
                  <a:cubicBezTo>
                    <a:pt x="2185257" y="21818"/>
                    <a:pt x="2190042" y="33369"/>
                    <a:pt x="2190042" y="45413"/>
                  </a:cubicBezTo>
                  <a:lnTo>
                    <a:pt x="2190042" y="182551"/>
                  </a:lnTo>
                  <a:cubicBezTo>
                    <a:pt x="2190042" y="194595"/>
                    <a:pt x="2185257" y="206146"/>
                    <a:pt x="2176740" y="214663"/>
                  </a:cubicBezTo>
                  <a:cubicBezTo>
                    <a:pt x="2168224" y="223180"/>
                    <a:pt x="2156673" y="227964"/>
                    <a:pt x="2144628" y="227964"/>
                  </a:cubicBezTo>
                  <a:lnTo>
                    <a:pt x="45413" y="227964"/>
                  </a:lnTo>
                  <a:cubicBezTo>
                    <a:pt x="20332" y="227964"/>
                    <a:pt x="0" y="207632"/>
                    <a:pt x="0" y="182551"/>
                  </a:cubicBezTo>
                  <a:lnTo>
                    <a:pt x="0" y="45413"/>
                  </a:lnTo>
                  <a:cubicBezTo>
                    <a:pt x="0" y="33369"/>
                    <a:pt x="4785" y="21818"/>
                    <a:pt x="13301" y="13301"/>
                  </a:cubicBezTo>
                  <a:cubicBezTo>
                    <a:pt x="21818" y="4785"/>
                    <a:pt x="33369" y="0"/>
                    <a:pt x="45413" y="0"/>
                  </a:cubicBezTo>
                  <a:close/>
                </a:path>
              </a:pathLst>
            </a:custGeom>
            <a:solidFill>
              <a:srgbClr val="F7562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2190042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HUAMÁN CORTEZ, ANABELLA KARINA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65002" y="8889522"/>
            <a:ext cx="8694298" cy="905000"/>
            <a:chOff x="0" y="0"/>
            <a:chExt cx="2190042" cy="2279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0042" cy="227964"/>
            </a:xfrm>
            <a:custGeom>
              <a:avLst/>
              <a:gdLst/>
              <a:ahLst/>
              <a:cxnLst/>
              <a:rect l="l" t="t" r="r" b="b"/>
              <a:pathLst>
                <a:path w="2190042" h="227964">
                  <a:moveTo>
                    <a:pt x="45413" y="0"/>
                  </a:moveTo>
                  <a:lnTo>
                    <a:pt x="2144628" y="0"/>
                  </a:lnTo>
                  <a:cubicBezTo>
                    <a:pt x="2156673" y="0"/>
                    <a:pt x="2168224" y="4785"/>
                    <a:pt x="2176740" y="13301"/>
                  </a:cubicBezTo>
                  <a:cubicBezTo>
                    <a:pt x="2185257" y="21818"/>
                    <a:pt x="2190042" y="33369"/>
                    <a:pt x="2190042" y="45413"/>
                  </a:cubicBezTo>
                  <a:lnTo>
                    <a:pt x="2190042" y="182551"/>
                  </a:lnTo>
                  <a:cubicBezTo>
                    <a:pt x="2190042" y="194595"/>
                    <a:pt x="2185257" y="206146"/>
                    <a:pt x="2176740" y="214663"/>
                  </a:cubicBezTo>
                  <a:cubicBezTo>
                    <a:pt x="2168224" y="223180"/>
                    <a:pt x="2156673" y="227964"/>
                    <a:pt x="2144628" y="227964"/>
                  </a:cubicBezTo>
                  <a:lnTo>
                    <a:pt x="45413" y="227964"/>
                  </a:lnTo>
                  <a:cubicBezTo>
                    <a:pt x="20332" y="227964"/>
                    <a:pt x="0" y="207632"/>
                    <a:pt x="0" y="182551"/>
                  </a:cubicBezTo>
                  <a:lnTo>
                    <a:pt x="0" y="45413"/>
                  </a:lnTo>
                  <a:cubicBezTo>
                    <a:pt x="0" y="33369"/>
                    <a:pt x="4785" y="21818"/>
                    <a:pt x="13301" y="13301"/>
                  </a:cubicBezTo>
                  <a:cubicBezTo>
                    <a:pt x="21818" y="4785"/>
                    <a:pt x="33369" y="0"/>
                    <a:pt x="45413" y="0"/>
                  </a:cubicBezTo>
                  <a:close/>
                </a:path>
              </a:pathLst>
            </a:custGeom>
            <a:solidFill>
              <a:srgbClr val="F7562B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2190042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COLFER MENDOZA, CARLOS ALEJANDRO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8625" y="2439537"/>
            <a:ext cx="19065250" cy="5407927"/>
            <a:chOff x="0" y="0"/>
            <a:chExt cx="5021300" cy="1424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1300" cy="1424310"/>
            </a:xfrm>
            <a:custGeom>
              <a:avLst/>
              <a:gdLst/>
              <a:ahLst/>
              <a:cxnLst/>
              <a:rect l="l" t="t" r="r" b="b"/>
              <a:pathLst>
                <a:path w="5021300" h="1424310">
                  <a:moveTo>
                    <a:pt x="8121" y="0"/>
                  </a:moveTo>
                  <a:lnTo>
                    <a:pt x="5013179" y="0"/>
                  </a:lnTo>
                  <a:cubicBezTo>
                    <a:pt x="5015333" y="0"/>
                    <a:pt x="5017399" y="856"/>
                    <a:pt x="5018922" y="2379"/>
                  </a:cubicBezTo>
                  <a:cubicBezTo>
                    <a:pt x="5020445" y="3902"/>
                    <a:pt x="5021300" y="5968"/>
                    <a:pt x="5021300" y="8121"/>
                  </a:cubicBezTo>
                  <a:lnTo>
                    <a:pt x="5021300" y="1416188"/>
                  </a:lnTo>
                  <a:cubicBezTo>
                    <a:pt x="5021300" y="1418342"/>
                    <a:pt x="5020445" y="1420408"/>
                    <a:pt x="5018922" y="1421931"/>
                  </a:cubicBezTo>
                  <a:cubicBezTo>
                    <a:pt x="5017399" y="1423454"/>
                    <a:pt x="5015333" y="1424310"/>
                    <a:pt x="5013179" y="1424310"/>
                  </a:cubicBezTo>
                  <a:lnTo>
                    <a:pt x="8121" y="1424310"/>
                  </a:lnTo>
                  <a:cubicBezTo>
                    <a:pt x="5968" y="1424310"/>
                    <a:pt x="3902" y="1423454"/>
                    <a:pt x="2379" y="1421931"/>
                  </a:cubicBezTo>
                  <a:cubicBezTo>
                    <a:pt x="856" y="1420408"/>
                    <a:pt x="0" y="1418342"/>
                    <a:pt x="0" y="1416188"/>
                  </a:cubicBezTo>
                  <a:lnTo>
                    <a:pt x="0" y="8121"/>
                  </a:lnTo>
                  <a:cubicBezTo>
                    <a:pt x="0" y="5968"/>
                    <a:pt x="856" y="3902"/>
                    <a:pt x="2379" y="2379"/>
                  </a:cubicBezTo>
                  <a:cubicBezTo>
                    <a:pt x="3902" y="856"/>
                    <a:pt x="5968" y="0"/>
                    <a:pt x="8121" y="0"/>
                  </a:cubicBezTo>
                  <a:close/>
                </a:path>
              </a:pathLst>
            </a:custGeom>
            <a:solidFill>
              <a:srgbClr val="02B676">
                <a:alpha val="1490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021300" cy="1433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06231" y="2868613"/>
            <a:ext cx="12875538" cy="4302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MARCO METODOLÓGICO: CRISP-DM APLICADO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03370" y="1333597"/>
            <a:ext cx="10081260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02B676"/>
                </a:solidFill>
                <a:latin typeface="Cheddar"/>
                <a:ea typeface="Cheddar"/>
                <a:cs typeface="Cheddar"/>
                <a:sym typeface="Cheddar"/>
              </a:rPr>
              <a:t>DATASET DE RIESGO DE SALUD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7314" y="3337252"/>
            <a:ext cx="5463399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CODIFICACIÓN DE VARIABLES CATEGÓRICAS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58317" y="569672"/>
            <a:ext cx="6171367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FASE 3: PREPARACIÓN DE DATOS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5802" y="3337252"/>
            <a:ext cx="5463399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INGENIERÍA DE CARACTERÍSTICAS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7366" y="4848013"/>
            <a:ext cx="7223295" cy="361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Aplicamos Label Encoding a Cancer_Type, resultando: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Breast → 0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Colon → 1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Lung → 2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Prostate → 3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Skin → 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74369" y="4848013"/>
            <a:ext cx="7566265" cy="361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Creamos 3 variables compuestas: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Risk_Lifestyle = Smoking + Alcohol_Use + Air_Pollution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Diet_Score = Diet_Salted_Processed + Diet_Red_Meat - Fruit_Veg_Intake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Genetic_Risk = BRCA_Mutation + Family_History + H_Pylori_Infection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04827" y="6630847"/>
            <a:ext cx="9278346" cy="2215442"/>
          </a:xfrm>
          <a:custGeom>
            <a:avLst/>
            <a:gdLst/>
            <a:ahLst/>
            <a:cxnLst/>
            <a:rect l="l" t="t" r="r" b="b"/>
            <a:pathLst>
              <a:path w="9278346" h="2215442">
                <a:moveTo>
                  <a:pt x="0" y="0"/>
                </a:moveTo>
                <a:lnTo>
                  <a:pt x="9278346" y="0"/>
                </a:lnTo>
                <a:lnTo>
                  <a:pt x="9278346" y="2215442"/>
                </a:lnTo>
                <a:lnTo>
                  <a:pt x="0" y="221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40043" y="1498550"/>
            <a:ext cx="15807914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342">
                <a:solidFill>
                  <a:srgbClr val="02B676"/>
                </a:solidFill>
                <a:latin typeface="Cheddar"/>
                <a:ea typeface="Cheddar"/>
                <a:cs typeface="Cheddar"/>
                <a:sym typeface="Cheddar"/>
              </a:rPr>
              <a:t>DATASET DE RIESGO DE SALUD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58317" y="715963"/>
            <a:ext cx="6171367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FASE 3: PREPARACIÓN DE DATOS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1307" y="3041550"/>
            <a:ext cx="11885387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DISTRIBUCIÓN DE CLASES Y ESTRATEGIAS DE DESBALANCEO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09369" y="4457600"/>
            <a:ext cx="13469262" cy="129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9"/>
              </a:lnSpc>
              <a:spcBef>
                <a:spcPct val="0"/>
              </a:spcBef>
            </a:pPr>
            <a:r>
              <a:rPr lang="en-US" sz="240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El dataset presenta un fuerte desbalanceo: ~80% Medium, ~15% Low, ~5% High. Se usará class_weight='balanced' en el modelo para que el árbol penalice más los errores en clases minoritarias.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94726" y="7556548"/>
            <a:ext cx="9936478" cy="1035050"/>
          </a:xfrm>
          <a:custGeom>
            <a:avLst/>
            <a:gdLst/>
            <a:ahLst/>
            <a:cxnLst/>
            <a:rect l="l" t="t" r="r" b="b"/>
            <a:pathLst>
              <a:path w="9936478" h="1035050">
                <a:moveTo>
                  <a:pt x="0" y="0"/>
                </a:moveTo>
                <a:lnTo>
                  <a:pt x="9936478" y="0"/>
                </a:lnTo>
                <a:lnTo>
                  <a:pt x="9936478" y="1035050"/>
                </a:lnTo>
                <a:lnTo>
                  <a:pt x="0" y="1035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84285" y="7556548"/>
            <a:ext cx="3086100" cy="960971"/>
            <a:chOff x="0" y="0"/>
            <a:chExt cx="812800" cy="2530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53095"/>
            </a:xfrm>
            <a:custGeom>
              <a:avLst/>
              <a:gdLst/>
              <a:ahLst/>
              <a:cxnLst/>
              <a:rect l="l" t="t" r="r" b="b"/>
              <a:pathLst>
                <a:path w="812800" h="253095">
                  <a:moveTo>
                    <a:pt x="126548" y="0"/>
                  </a:moveTo>
                  <a:lnTo>
                    <a:pt x="686252" y="0"/>
                  </a:lnTo>
                  <a:cubicBezTo>
                    <a:pt x="719815" y="0"/>
                    <a:pt x="752003" y="13333"/>
                    <a:pt x="775735" y="37065"/>
                  </a:cubicBezTo>
                  <a:cubicBezTo>
                    <a:pt x="799467" y="60797"/>
                    <a:pt x="812800" y="92985"/>
                    <a:pt x="812800" y="126548"/>
                  </a:cubicBezTo>
                  <a:lnTo>
                    <a:pt x="812800" y="126548"/>
                  </a:lnTo>
                  <a:cubicBezTo>
                    <a:pt x="812800" y="160110"/>
                    <a:pt x="799467" y="192298"/>
                    <a:pt x="775735" y="216030"/>
                  </a:cubicBezTo>
                  <a:cubicBezTo>
                    <a:pt x="752003" y="239763"/>
                    <a:pt x="719815" y="253095"/>
                    <a:pt x="686252" y="253095"/>
                  </a:cubicBezTo>
                  <a:lnTo>
                    <a:pt x="126548" y="253095"/>
                  </a:lnTo>
                  <a:cubicBezTo>
                    <a:pt x="92985" y="253095"/>
                    <a:pt x="60797" y="239763"/>
                    <a:pt x="37065" y="216030"/>
                  </a:cubicBezTo>
                  <a:cubicBezTo>
                    <a:pt x="13333" y="192298"/>
                    <a:pt x="0" y="160110"/>
                    <a:pt x="0" y="126548"/>
                  </a:cubicBezTo>
                  <a:lnTo>
                    <a:pt x="0" y="126548"/>
                  </a:lnTo>
                  <a:cubicBezTo>
                    <a:pt x="0" y="92985"/>
                    <a:pt x="13333" y="60797"/>
                    <a:pt x="37065" y="37065"/>
                  </a:cubicBezTo>
                  <a:cubicBezTo>
                    <a:pt x="60797" y="13333"/>
                    <a:pt x="92985" y="0"/>
                    <a:pt x="12654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812800" cy="262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75080" y="1511277"/>
            <a:ext cx="5937841" cy="878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spc="279">
                <a:solidFill>
                  <a:srgbClr val="02B676"/>
                </a:solidFill>
                <a:latin typeface="Cheddar"/>
                <a:ea typeface="Cheddar"/>
                <a:cs typeface="Cheddar"/>
                <a:sym typeface="Cheddar"/>
              </a:rPr>
              <a:t>DIVISION TRAIN/TEST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58317" y="584854"/>
            <a:ext cx="6171367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FASE 3: PREPARACIÓN DE DATOS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4614" y="4035361"/>
            <a:ext cx="14977884" cy="130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500" spc="12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'Age', 'Gender', 'Smoking', 'Alcohol_Use', 'Obesity', 'Family_History', 'Diet_Red_Meat', 'Diet_Salted_Processed', 'Fruit_Veg_Intake','Physical_Activity', 'Air_Pollution', 'Occupational_Hazards','BRCA_Mutation', 'H_Pylori_Infection', 'Calcium_Intake',</a:t>
            </a:r>
          </a:p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500" spc="12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'BMI', 'Physical_Activity_Level', 'Cancer_Type_enc', 'Risk_Lifestyle', 'Diet_Score', 'Genetic_Risk'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4614" y="2699956"/>
            <a:ext cx="6830522" cy="878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spc="279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VARIABLES PARA TEST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6173" y="6076252"/>
            <a:ext cx="4982324" cy="878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spc="279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VARIABLE TARGET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38682" y="7857646"/>
            <a:ext cx="1777305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 spc="12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'Risk_Level'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3987" y="9344073"/>
            <a:ext cx="18074013" cy="714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1"/>
              </a:lnSpc>
              <a:spcBef>
                <a:spcPct val="0"/>
              </a:spcBef>
            </a:pPr>
            <a:r>
              <a:rPr lang="en-US" sz="2571" spc="126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SE DETECTÓ DATA LEAKAGE EN OVERALL_RISK_SCORE Y METASTASIS_STATUS — SUS RANGOS POR CLASE NO SE SOLAPAN, CONFIRMANDO QUE RISK_LEVEL ES UNA DISCRETIZACIÓN DIRECTA DE  ESTAS VARIABLES. FUERON EXCLUIDAS DEL MODELO.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03370" y="1332556"/>
            <a:ext cx="10081260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02B676"/>
                </a:solidFill>
                <a:latin typeface="Cheddar"/>
                <a:ea typeface="Cheddar"/>
                <a:cs typeface="Cheddar"/>
                <a:sym typeface="Cheddar"/>
              </a:rPr>
              <a:t>DATASET DE STOCK LOGÍSTICO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08648" y="3454660"/>
            <a:ext cx="5463399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EXTRACCIÓN DE FEATURES TEMPORALES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58317" y="587108"/>
            <a:ext cx="6171367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FASE 3: PREPARACIÓN DE DATOS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4468" y="2709562"/>
            <a:ext cx="5463399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INGENIERÍA DE CARACTERÍSTICAS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965421"/>
            <a:ext cx="7223295" cy="2583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Generamos 3 nuevas variables, según la variable Date: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Month (mes)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Quarter (trimestre)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Day_of_Week (día de la semana)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93035" y="4220324"/>
            <a:ext cx="7566265" cy="515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Calculamos las proyecciones de stock para 7 y 14 días (actual menos uso promedio por cantidad de días).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Definimos 2 indicadores de riesgo:</a:t>
            </a:r>
          </a:p>
          <a:p>
            <a:pPr marL="1252215" lvl="2" indent="-417405" algn="l">
              <a:lnSpc>
                <a:spcPts val="4059"/>
              </a:lnSpc>
              <a:buFont typeface="Arial"/>
              <a:buChar char="⚬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Días hasta el desabastecimiento</a:t>
            </a:r>
          </a:p>
          <a:p>
            <a:pPr marL="1252215" lvl="2" indent="-417405" algn="l">
              <a:lnSpc>
                <a:spcPts val="4059"/>
              </a:lnSpc>
              <a:buFont typeface="Arial"/>
              <a:buChar char="⚬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Relación de stock: qué tan lejos estamos del mínimo de stock requerido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Definimos flags de alerta binaria para 7 y 14 días.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03370" y="1226654"/>
            <a:ext cx="10081260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02B676"/>
                </a:solidFill>
                <a:latin typeface="Cheddar"/>
                <a:ea typeface="Cheddar"/>
                <a:cs typeface="Cheddar"/>
                <a:sym typeface="Cheddar"/>
              </a:rPr>
              <a:t>DATASET DE STOCK LOGÍSTICO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01307" y="2576029"/>
            <a:ext cx="11885387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CODIFICACIÓN DE VARIABLES CATEGÓRICAS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58317" y="412750"/>
            <a:ext cx="6171367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FASE 3: PREPARACIÓN DE DATOS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71" y="3599484"/>
            <a:ext cx="10858013" cy="526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Aplicamos Label Encoding a el nombre del objeto y su tipo.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671" y="4547413"/>
            <a:ext cx="8014314" cy="464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Para el nombre del objeto: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Alimento complementario → 0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Guantes → 1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Suero intravenoso → 2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Kit de Higiene → 3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Morfina → 4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Sábanas → 5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Mascarilla quirúrgica → 6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Ventilador → 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31378" y="4323080"/>
            <a:ext cx="5622481" cy="1555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Para el tipo de objeto::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Consumible → 0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Equipo →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03370" y="1978145"/>
            <a:ext cx="10081260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02B676"/>
                </a:solidFill>
                <a:latin typeface="Cheddar"/>
                <a:ea typeface="Cheddar"/>
                <a:cs typeface="Cheddar"/>
                <a:sym typeface="Cheddar"/>
              </a:rPr>
              <a:t>DATASET DE STOCK LOGÍSTICO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01307" y="3260047"/>
            <a:ext cx="11885387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DIVISIÓN TRAIN / TEST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58317" y="933570"/>
            <a:ext cx="6171367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FASE 3: PREPARACIÓN DE DATOS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71" y="4017943"/>
            <a:ext cx="7471346" cy="526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Definimos los siguientes features: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671" y="4677709"/>
            <a:ext cx="4288981" cy="361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Current_Stock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Min_Required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Max_Capacity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Unit_Cost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Avg_Usage_Per_Day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Restock_Lead_Time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Item_Name_enc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29182" y="4017943"/>
            <a:ext cx="6730118" cy="206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Y las variables objetivo independientes para 7 y 14 días: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Projected_Stock_7d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Projected_Stock_14d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293" y="4677709"/>
            <a:ext cx="4128611" cy="309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Item_Type_enc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Month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Quarter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Day_of_Week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Stock_Ratio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Days_Until_Stockout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29182" y="6441104"/>
            <a:ext cx="6252563" cy="206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Dividimos los datos en una proporción de 80/20: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400 para el entrenamiento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100 para la prueba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0140" y="2736582"/>
            <a:ext cx="17867720" cy="6521718"/>
          </a:xfrm>
          <a:custGeom>
            <a:avLst/>
            <a:gdLst/>
            <a:ahLst/>
            <a:cxnLst/>
            <a:rect l="l" t="t" r="r" b="b"/>
            <a:pathLst>
              <a:path w="17867720" h="6521718">
                <a:moveTo>
                  <a:pt x="0" y="0"/>
                </a:moveTo>
                <a:lnTo>
                  <a:pt x="17867720" y="0"/>
                </a:lnTo>
                <a:lnTo>
                  <a:pt x="17867720" y="6521718"/>
                </a:lnTo>
                <a:lnTo>
                  <a:pt x="0" y="6521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38215" y="1145115"/>
            <a:ext cx="12220860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02B676"/>
                </a:solidFill>
                <a:latin typeface="Cheddar"/>
                <a:ea typeface="Cheddar"/>
                <a:cs typeface="Cheddar"/>
                <a:sym typeface="Cheddar"/>
              </a:rPr>
              <a:t>CLASIFIFACION DE RIESGO DE SALUD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7081" y="412750"/>
            <a:ext cx="7373838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FASE 4 (INICIAL): MODELADO BASELINE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209808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83703" y="1298148"/>
            <a:ext cx="11520593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02B676"/>
                </a:solidFill>
                <a:latin typeface="Cheddar"/>
                <a:ea typeface="Cheddar"/>
                <a:cs typeface="Cheddar"/>
                <a:sym typeface="Cheddar"/>
              </a:rPr>
              <a:t>PREDICCIÓN DEL STOCK LOGÍSTICO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7081" y="412750"/>
            <a:ext cx="7373838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FASE 4 (INICIAL): MODELADO BASELINE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38194" y="1733069"/>
            <a:ext cx="10674124" cy="8179048"/>
          </a:xfrm>
          <a:custGeom>
            <a:avLst/>
            <a:gdLst/>
            <a:ahLst/>
            <a:cxnLst/>
            <a:rect l="l" t="t" r="r" b="b"/>
            <a:pathLst>
              <a:path w="10674124" h="8179048">
                <a:moveTo>
                  <a:pt x="0" y="0"/>
                </a:moveTo>
                <a:lnTo>
                  <a:pt x="10674125" y="0"/>
                </a:lnTo>
                <a:lnTo>
                  <a:pt x="10674125" y="8179048"/>
                </a:lnTo>
                <a:lnTo>
                  <a:pt x="0" y="8179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31059" y="659919"/>
            <a:ext cx="10081260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342">
                <a:solidFill>
                  <a:srgbClr val="02B676"/>
                </a:solidFill>
                <a:latin typeface="Cheddar"/>
                <a:ea typeface="Cheddar"/>
                <a:cs typeface="Cheddar"/>
                <a:sym typeface="Cheddar"/>
              </a:rPr>
              <a:t>DASHBOARD PRELIMINAR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3751453"/>
            <a:ext cx="8705343" cy="2784093"/>
            <a:chOff x="0" y="0"/>
            <a:chExt cx="2292765" cy="7332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2765" cy="733259"/>
            </a:xfrm>
            <a:custGeom>
              <a:avLst/>
              <a:gdLst/>
              <a:ahLst/>
              <a:cxnLst/>
              <a:rect l="l" t="t" r="r" b="b"/>
              <a:pathLst>
                <a:path w="2292765" h="733259">
                  <a:moveTo>
                    <a:pt x="45356" y="0"/>
                  </a:moveTo>
                  <a:lnTo>
                    <a:pt x="2247409" y="0"/>
                  </a:lnTo>
                  <a:cubicBezTo>
                    <a:pt x="2259438" y="0"/>
                    <a:pt x="2270975" y="4779"/>
                    <a:pt x="2279481" y="13284"/>
                  </a:cubicBezTo>
                  <a:cubicBezTo>
                    <a:pt x="2287987" y="21790"/>
                    <a:pt x="2292765" y="33327"/>
                    <a:pt x="2292765" y="45356"/>
                  </a:cubicBezTo>
                  <a:lnTo>
                    <a:pt x="2292765" y="687903"/>
                  </a:lnTo>
                  <a:cubicBezTo>
                    <a:pt x="2292765" y="712953"/>
                    <a:pt x="2272459" y="733259"/>
                    <a:pt x="2247409" y="733259"/>
                  </a:cubicBezTo>
                  <a:lnTo>
                    <a:pt x="45356" y="733259"/>
                  </a:lnTo>
                  <a:cubicBezTo>
                    <a:pt x="20306" y="733259"/>
                    <a:pt x="0" y="712953"/>
                    <a:pt x="0" y="687903"/>
                  </a:cubicBezTo>
                  <a:lnTo>
                    <a:pt x="0" y="45356"/>
                  </a:lnTo>
                  <a:cubicBezTo>
                    <a:pt x="0" y="20306"/>
                    <a:pt x="20306" y="0"/>
                    <a:pt x="45356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0"/>
              <a:ext cx="2292765" cy="1114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9"/>
                </a:lnSpc>
              </a:pPr>
              <a:r>
                <a:rPr lang="en-US" sz="12999" b="1">
                  <a:solidFill>
                    <a:srgbClr val="29060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GRACIAS</a:t>
              </a: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C3E22C81-61A3-8275-1CE1-6703A02BF3DA}"/>
              </a:ext>
            </a:extLst>
          </p:cNvPr>
          <p:cNvSpPr txBox="1"/>
          <p:nvPr/>
        </p:nvSpPr>
        <p:spPr>
          <a:xfrm>
            <a:off x="3429000" y="7989775"/>
            <a:ext cx="9292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https://www.canva.com/design/DAHIGFlWzmk/KtK_WVpoV_mVfC4YsC0k6A/edit?utm_content=DAHIGFlWzmk&amp;utm_campaign=designshare&amp;utm_medium=link2&amp;utm_source=sharebutton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690</Words>
  <Application>Microsoft Office PowerPoint</Application>
  <PresentationFormat>Personalizado</PresentationFormat>
  <Paragraphs>93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Cheddar</vt:lpstr>
      <vt:lpstr>Telegraf</vt:lpstr>
      <vt:lpstr>Calibri</vt:lpstr>
      <vt:lpstr>Telegraf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- Hito 1</dc:title>
  <cp:lastModifiedBy>Alejandro Colfer</cp:lastModifiedBy>
  <cp:revision>2</cp:revision>
  <dcterms:created xsi:type="dcterms:W3CDTF">2006-08-16T00:00:00Z</dcterms:created>
  <dcterms:modified xsi:type="dcterms:W3CDTF">2026-05-13T17:08:46Z</dcterms:modified>
  <dc:identifier>DAHIGFlWzmk</dc:identifier>
</cp:coreProperties>
</file>